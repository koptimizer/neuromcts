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학습 기반 feasibility 판별의 실패와, CP-SAT 강화로 얻은 첫 성공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0175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0BBDD"/>
                </a:solidFill>
              </a:defRPr>
            </a:pPr>
            <a:r>
              <a:t>v11 — 10가지 부정 결과의 기제 진단, baseline 재검증, CP-SAT augmentation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ADCFC"/>
                </a:solidFill>
              </a:defRPr>
            </a:pPr>
            <a:r>
              <a:t>neuroMCTS project  ·  2026년 7월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동기: feasibility 판별을 1차 목표로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D2D2D"/>
                </a:solidFill>
              </a:defRPr>
            </a:pPr>
            <a:r>
              <a:t>Solution 구성은 보류 — 0/1 해가 존재하는지(feasibility)를 GNN/RL로 직접 판별</a:t>
            </a:r>
          </a:p>
          <a:p>
            <a:pPr>
              <a:spcAft>
                <a:spcPts val="1000"/>
              </a:spcAft>
              <a:defRPr sz="1600" b="0">
                <a:solidFill>
                  <a:srgbClr val="2D2D2D"/>
                </a:solidFill>
              </a:defRPr>
            </a:pPr>
            <a:r>
              <a:t>필수조건 A: 고전 솔버(MILP/CP-SAT)보다 빠른 추론</a:t>
            </a:r>
          </a:p>
          <a:p>
            <a:pPr>
              <a:spcAft>
                <a:spcPts val="1000"/>
              </a:spcAft>
              <a:defRPr sz="1600" b="0">
                <a:solidFill>
                  <a:srgbClr val="2D2D2D"/>
                </a:solidFill>
              </a:defRPr>
            </a:pPr>
            <a:r>
              <a:t>필수조건 B: 학습하지 않은 크기에서도 유지되는 zero-shot 정확도</a:t>
            </a:r>
          </a:p>
          <a:p>
            <a:pPr>
              <a:spcAft>
                <a:spcPts val="1000"/>
              </a:spcAft>
              <a:defRPr sz="1600" b="1">
                <a:solidFill>
                  <a:srgbClr val="2D2D2D"/>
                </a:solidFill>
              </a:defRPr>
            </a:pPr>
            <a:r>
              <a:t>본 사이클: 두 조건 모두 프로젝트 자신의 실험 + 문헌으로 정면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77777"/>
                </a:solidFill>
              </a:defRPr>
            </a:pPr>
            <a:r>
              <a:t>v11    ·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열 가지 독립적 부정 결과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11_negative_score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960120"/>
            <a:ext cx="4998719" cy="37490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77777"/>
                </a:solidFill>
              </a:defRPr>
            </a:pPr>
            <a:r>
              <a:t>v11    ·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최적화 버그 배제: positive-control sanity check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D2D2D"/>
                </a:solidFill>
              </a:defRPr>
            </a:pPr>
            <a:r>
              <a:t>모든 부정 결과는 학습 전 sanity check으로 검증</a:t>
            </a:r>
          </a:p>
          <a:p>
            <a:pPr>
              <a:spcAft>
                <a:spcPts val="1000"/>
              </a:spcAft>
              <a:defRPr sz="1600" b="0">
                <a:solidFill>
                  <a:srgbClr val="2D2D2D"/>
                </a:solidFill>
              </a:defRPr>
            </a:pPr>
            <a:r>
              <a:t>이중노드 GNN: 대리 라벨(mean(b)&gt;median)로 25 epoch만에 loss 0.693→0.607</a:t>
            </a:r>
          </a:p>
          <a:p>
            <a:pPr>
              <a:spcAft>
                <a:spcPts val="1000"/>
              </a:spcAft>
              <a:defRPr sz="1600" b="0">
                <a:solidFill>
                  <a:srgbClr val="2D2D2D"/>
                </a:solidFill>
              </a:defRPr>
            </a:pPr>
            <a:r>
              <a:t>이분그래프 GNN: pooling-보존 상수 신호로 6 epoch만에 loss 0.614→0.04</a:t>
            </a:r>
          </a:p>
          <a:p>
            <a:pPr>
              <a:spcAft>
                <a:spcPts val="1000"/>
              </a:spcAft>
              <a:defRPr sz="1600" b="1">
                <a:solidFill>
                  <a:srgbClr val="2D2D2D"/>
                </a:solidFill>
              </a:defRPr>
            </a:pPr>
            <a:r>
              <a:t>→ 그래디언트·최적화기 정상 작동. 실패는 학습 절차 문제가 아님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77777"/>
                </a:solidFill>
              </a:defRPr>
            </a:pPr>
            <a:r>
              <a:t>v11    ·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근본 원인: near-miss 짝은 표현상 동일하다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D2D2D"/>
                </a:solidFill>
              </a:defRPr>
            </a:pPr>
            <a:r>
              <a:t>BKZ Gram-Schmidt 프로파일 시퀀스 모델도 AUC 0.5000</a:t>
            </a:r>
          </a:p>
          <a:p>
            <a:pPr>
              <a:spcAft>
                <a:spcPts val="1000"/>
              </a:spcAft>
              <a:defRPr sz="1600" b="0">
                <a:solidFill>
                  <a:srgbClr val="2D2D2D"/>
                </a:solidFill>
              </a:defRPr>
            </a:pPr>
            <a:r>
              <a:t>진단 결과: 2,529개 near-miss 짝의 96.8%가 8회 시도 전부에서 비트 단위로 동일한 프로파일</a:t>
            </a:r>
          </a:p>
          <a:p>
            <a:pPr>
              <a:spcAft>
                <a:spcPts val="1000"/>
              </a:spcAft>
              <a:defRPr sz="1600" b="0">
                <a:solidFill>
                  <a:srgbClr val="2D2D2D"/>
                </a:solidFill>
              </a:defRPr>
            </a:pPr>
            <a:r>
              <a:t>b는 n+1개 기저 행 중 1개에만 영향 — 나머지는 전부 A(짝 간 공유)로 결정됨</a:t>
            </a:r>
          </a:p>
          <a:p>
            <a:pPr>
              <a:spcAft>
                <a:spcPts val="1000"/>
              </a:spcAft>
              <a:defRPr sz="1600" b="1">
                <a:solidFill>
                  <a:srgbClr val="2D2D2D"/>
                </a:solidFill>
              </a:defRPr>
            </a:pPr>
            <a:r>
              <a:t>→ 학습·용량 문제가 아니라, 표현 자체가 정보를 안 담고 있음(수학적 사실)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77777"/>
                </a:solidFill>
              </a:defRPr>
            </a:pPr>
            <a:r>
              <a:t>v11    ·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문헌적 근거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D2D2D"/>
                </a:solidFill>
              </a:defRPr>
            </a:pPr>
            <a:r>
              <a:t>Chen et al. 2023 (ICLR): 일부 feasible/infeasible MILP 쌍은 표준 GNN이 원리적으로 구분 불가</a:t>
            </a:r>
          </a:p>
          <a:p>
            <a:pPr lvl="1">
              <a:spcAft>
                <a:spcPts val="1000"/>
              </a:spcAft>
              <a:defRPr sz="1400" b="0">
                <a:solidFill>
                  <a:srgbClr val="777777"/>
                </a:solidFill>
              </a:defRPr>
            </a:pPr>
            <a:r>
              <a:t>→ 처방(랜덤 노드 특징)도 제시 — 이번 사이클에 테스트했으나 우리 구조에선 무효(d=0/8/32 전부 0.5001)</a:t>
            </a:r>
          </a:p>
          <a:p>
            <a:pPr>
              <a:spcAft>
                <a:spcPts val="1000"/>
              </a:spcAft>
              <a:defRPr sz="1600" b="0">
                <a:solidFill>
                  <a:srgbClr val="2D2D2D"/>
                </a:solidFill>
              </a:defRPr>
            </a:pPr>
            <a:r>
              <a:t>G4SATBench (TMLR 2024): SAT 분류기, 크기 4-5배 전이 시 정확도 15-25%p 붕괴</a:t>
            </a:r>
          </a:p>
          <a:p>
            <a:pPr>
              <a:spcAft>
                <a:spcPts val="1000"/>
              </a:spcAft>
              <a:defRPr sz="1600" b="0">
                <a:solidFill>
                  <a:srgbClr val="2D2D2D"/>
                </a:solidFill>
              </a:defRPr>
            </a:pPr>
            <a:r>
              <a:t>RL이 feasibility 판정 자체를 출력하는 문헌: 조사 범위 내 사실상 부재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77777"/>
                </a:solidFill>
              </a:defRPr>
            </a:pPr>
            <a:r>
              <a:t>v11    ·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Baseline 재검증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11_baseline_reality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8046720" cy="3352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77777"/>
                </a:solidFill>
              </a:defRPr>
            </a:pPr>
            <a:r>
              <a:t>v11    ·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정확도·시간: Classical Solver 전 크기 우위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59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2842"/>
                <a:gridCol w="1732547"/>
                <a:gridCol w="1732547"/>
                <a:gridCol w="1732547"/>
                <a:gridCol w="1949115"/>
              </a:tblGrid>
              <a:tr h="475488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크기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Gurobi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SCIP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CP-SAT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제안 파이프라인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10x25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100.0% / 0.0023s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100.0% / 0.0053s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100.0% / 0.0011s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100.0% / 0.23s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20x50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100.0% / 0.028s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100.0% / 0.141s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100.0% / 0.031s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78.25% / 3.78s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40x100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99.4% / 1.875s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93.2% / 9.24s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90.9% / 8.03s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66.67% / 22.0s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60x150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16.67% / 17.72s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6.67% / 107.95s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7490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77777"/>
                </a:solidFill>
              </a:defRPr>
            </a:pPr>
            <a:r>
              <a:t>40x100까지 baseline이 최대 200배 빠르고 더 정확. 60x150은 이번에 처음 실측 — CP-SAT도 어렵지만(2/12) 여전히 제안 파이프라인(2/30)보다 나음.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77777"/>
                </a:solidFill>
              </a:defRPr>
            </a:pPr>
            <a:r>
              <a:t>v11    ·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CP-SAT를 대체가 아닌 강화로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598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4564"/>
                <a:gridCol w="1936376"/>
                <a:gridCol w="1936376"/>
                <a:gridCol w="1452282"/>
              </a:tblGrid>
              <a:tr h="42672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변형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Solution 정확도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Infeasible 증명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평균 시간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Plain CP-SAT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16.67% (2/12)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5/6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17.72s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+ pump hint (AddHint)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16.67% (2/12)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6/6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17.70s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linearization_level=2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8.33% (1/12)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5/6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21.22s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PORTFOLIO_SEARCH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16.67% (2/12)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5/6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19.01s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LP_SEARCH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16.67% (2/12)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5/6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18.00s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886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77777"/>
                </a:solidFill>
              </a:defRPr>
            </a:pPr>
            <a:r>
              <a:t>Hint는 해를 더 찾진 못하지만 infeasible 증명 5/6→6/6. 파라미터 튜닝 3종은 전부 무효 — 이번 사이클 유일한 재현 가능한 긍정 결과.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77777"/>
                </a:solidFill>
              </a:defRPr>
            </a:pPr>
            <a:r>
              <a:t>v11    ·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왜 학습이 여기서 전이되지 않는가 (논리적 근거)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D2D2D"/>
                </a:solidFill>
              </a:defRPr>
            </a:pPr>
            <a:r>
              <a:t>(i) 느린 수렴이 아니라 표현 수준의 불가능성 — 96.8%가 비트 단위로 동일한 입력</a:t>
            </a:r>
          </a:p>
          <a:p>
            <a:pPr>
              <a:spcAft>
                <a:spcPts val="1000"/>
              </a:spcAft>
              <a:defRPr sz="1600" b="1">
                <a:solidFill>
                  <a:srgbClr val="2D2D2D"/>
                </a:solidFill>
              </a:defRPr>
            </a:pPr>
            <a:r>
              <a:t>(ii) 정수 feasibility는 불연속·정수론적 성질 — parity와 같은 부류의 장애물</a:t>
            </a:r>
          </a:p>
          <a:p>
            <a:pPr>
              <a:spcAft>
                <a:spcPts val="1000"/>
              </a:spcAft>
              <a:defRPr sz="1600" b="1">
                <a:solidFill>
                  <a:srgbClr val="2D2D2D"/>
                </a:solidFill>
              </a:defRPr>
            </a:pPr>
            <a:r>
              <a:t>(iii) Market-split은 매끄러운 신호를 없애도록 설계됨 — LP완화뿐 아니라 그래디언트 하강도 무력화</a:t>
            </a:r>
          </a:p>
          <a:p>
            <a:pPr>
              <a:spcAft>
                <a:spcPts val="1000"/>
              </a:spcAft>
              <a:defRPr sz="1600" b="0">
                <a:solidFill>
                  <a:srgbClr val="2D2D2D"/>
                </a:solidFill>
              </a:defRPr>
            </a:pPr>
            <a:r>
              <a:t>스케일(깊이·폭·데이터)을 키워도 AUC가 정확히 0.5±0.0003 — 학습 곡선이 아니라 단단한 상한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77777"/>
                </a:solidFill>
              </a:defRPr>
            </a:pPr>
            <a:r>
              <a:t>v11    ·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결론 및 다음 단계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D2D2D"/>
                </a:solidFill>
              </a:defRPr>
            </a:pPr>
            <a:r>
              <a:t>Feasibility 판별: 프로젝트 실험(10건) + 문헌 양쪽 모두 검증 실패</a:t>
            </a:r>
          </a:p>
          <a:p>
            <a:pPr>
              <a:spcAft>
                <a:spcPts val="1000"/>
              </a:spcAft>
              <a:defRPr sz="1600" b="1">
                <a:solidFill>
                  <a:srgbClr val="2D2D2D"/>
                </a:solidFill>
              </a:defRPr>
            </a:pPr>
            <a:r>
              <a:t>학습의 유일한 긍정 기여: CP-SAT에 심볼릭 부산물을 hint로 제공(대체 아닌 강화)</a:t>
            </a:r>
          </a:p>
          <a:p>
            <a:pPr>
              <a:spcAft>
                <a:spcPts val="1000"/>
              </a:spcAft>
              <a:defRPr sz="1600" b="0">
                <a:solidFill>
                  <a:srgbClr val="2D2D2D"/>
                </a:solidFill>
              </a:defRPr>
            </a:pPr>
            <a:r>
              <a:t>Classical solver는 대조군이 아니라 40x100까지 지배적 방법 — 60x150에서도 우위 유력</a:t>
            </a:r>
          </a:p>
          <a:p>
            <a:pPr>
              <a:spcAft>
                <a:spcPts val="1000"/>
              </a:spcAft>
              <a:defRPr sz="1600" b="1">
                <a:solidFill>
                  <a:srgbClr val="2D2D2D"/>
                </a:solidFill>
              </a:defRPr>
            </a:pPr>
            <a:r>
              <a:t>다음: hint 방향 확장(더 큰 표본, AHL hint, 부분 hint) — 판정 대체 재시도는 보류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77777"/>
                </a:solidFill>
              </a:defRPr>
            </a:pPr>
            <a:r>
              <a:t>v11    ·  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