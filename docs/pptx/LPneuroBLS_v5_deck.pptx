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Neuro-Symbolic Search for Binary Linear Systems:
LP-Guided MCTS with Null-Space Projection and
Policy-Guided Complete Backtracking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BBDD"/>
                </a:solidFill>
                <a:latin typeface="Arial"/>
              </a:rPr>
              <a:t>neuroMCTS project  ·  Research meeting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Laser NDT image recovery is a binary linear system that demands both feasibility detection and exact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Task: </a:t>
            </a:r>
            <a:r>
              <a:rPr sz="2000" b="0">
                <a:solidFill>
                  <a:srgbClr val="2D2D2D"/>
                </a:solidFill>
                <a:latin typeface="Arial"/>
              </a:rPr>
              <a:t>find x ∈ {0,1}ⁿ with Ax = b, or certify that none exists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Noisy scans (dust) make the system infeasible — a false negative discards a recoverable scan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Market-split-type systems: NP-complete; LP-based branch-and-bound degrades sharply with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Our approach: stage cheap null-space certificates before learned search, and turn search failures into proofs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Kernel pump: </a:t>
            </a:r>
            <a:r>
              <a:rPr sz="2000" b="0">
                <a:solidFill>
                  <a:srgbClr val="2D2D2D"/>
                </a:solidFill>
                <a:latin typeface="Arial"/>
              </a:rPr>
              <a:t>alternating projection onto {x : Ax = b} — walks the null space, certifies feasibility constructively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AlphaZero-aligned MCTS: </a:t>
            </a:r>
            <a:r>
              <a:rPr sz="2000" b="0">
                <a:solidFill>
                  <a:srgbClr val="2D2D2D"/>
                </a:solidFill>
                <a:latin typeface="Arial"/>
              </a:rPr>
              <a:t>policy trained on full visit distributions + root Dirichlet noise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Policy-guided DFS: </a:t>
            </a:r>
            <a:r>
              <a:rPr sz="2000" b="0">
                <a:solidFill>
                  <a:srgbClr val="2D2D2D"/>
                </a:solidFill>
                <a:latin typeface="Arial"/>
              </a:rPr>
              <a:t>complete backtracking under the learned ordering — solution or infeasibility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Inference spends symbolic certificates first and reserves learned search for the hard residue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1  Constraint propagation + probing</a:t>
            </a:r>
            <a:r>
              <a:rPr sz="2000" b="0">
                <a:solidFill>
                  <a:srgbClr val="2D2D2D"/>
                </a:solidFill>
                <a:latin typeface="Arial"/>
              </a:rPr>
              <a:t>  → contradiction = infeasibility proof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2  LP hard rule</a:t>
            </a:r>
            <a:r>
              <a:rPr sz="2000" b="0">
                <a:solidFill>
                  <a:srgbClr val="2D2D2D"/>
                </a:solidFill>
                <a:latin typeface="Arial"/>
              </a:rPr>
              <a:t>  → LP infeasible ⇒ binary infeasible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3  Kernel pump</a:t>
            </a:r>
            <a:r>
              <a:rPr sz="2000" b="0">
                <a:solidFill>
                  <a:srgbClr val="2D2D2D"/>
                </a:solidFill>
                <a:latin typeface="Arial"/>
              </a:rPr>
              <a:t>  → exact solution = feasibility certificate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4  GNN feasibility head</a:t>
            </a:r>
            <a:r>
              <a:rPr sz="2000" b="0">
                <a:solidFill>
                  <a:srgbClr val="2D2D2D"/>
                </a:solidFill>
                <a:latin typeface="Arial"/>
              </a:rPr>
              <a:t>  (threshold calibrated on training data only)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5  MCTS + 1-ply backtracking + pump repair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6  Policy-guided DFS</a:t>
            </a:r>
            <a:r>
              <a:rPr sz="2000" b="0">
                <a:solidFill>
                  <a:srgbClr val="2D2D2D"/>
                </a:solidFill>
                <a:latin typeface="Arial"/>
              </a:rPr>
              <a:t>  (20k-node budget) → solve or prove infeasible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The pipeline beats every inexact baseline: 99.5% feasibility, 99.6% solution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5_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94960" cy="26347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Arial"/>
              </a:rPr>
              <a:t>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630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Zero false negatives (800/800)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+40.9 pp solution accuracy vs. best LP rounding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Exact solvers stay perfect and ~10³× faster at 10×25 — our case rests on scaling, not this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Arial"/>
              </a:rPr>
              <a:t>Test set: 1,000 instances (800 feasible / 200 infeasible), 10×25, time incl. all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61% of instances close before any neural inference; the learned policy closes most of the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5_method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94960" cy="28394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Arial"/>
              </a:rPr>
              <a:t>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630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Symbolic proofs: 148 infeasible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Kernel pump: 463 solved (0.78 ms each)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Learned search: 128 MCTS + 194 DFS solved, 47 DFS infeasibility proofs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Residue: 5 FP + 3 unsolved (budget)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Test accuracy peaks at epoch 10 and drifts down — a fixed training pool induces memorization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5_training_te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94960" cy="3147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Arial"/>
              </a:rP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630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Train metrics recover after the ep-20 collapse, test does not follow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Checkpoint chosen on a training-derived calibration set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Next cycle: held-out eval + on-the-fly instance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Proofs beat probabilities: the learned feasibility head contributed zero correct rejections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Hard cases (LP-feasible, binary-infeasible) are inseparable to the head — probabilities cluster above 0.84 for both classes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Every feasibility gain came from proofs: propagation, pump certificates, DFS exhaustion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Learning helps inside the search (ordering, value) — consistent with the learned-branching literature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Null-space structure plus budgeted complete search met the operational targets; size scaling is the next milestone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Targets met: </a:t>
            </a:r>
            <a:r>
              <a:rPr sz="2000" b="0">
                <a:solidFill>
                  <a:srgbClr val="2D2D2D"/>
                </a:solidFill>
                <a:latin typeface="Arial"/>
              </a:rPr>
              <a:t>feasibility 99.50% (≥ 95), solution 99.62% (≥ 75) on held-out test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Honest bound: </a:t>
            </a:r>
            <a:r>
              <a:rPr sz="2000" b="0">
                <a:solidFill>
                  <a:srgbClr val="2D2D2D"/>
                </a:solidFill>
                <a:latin typeface="Arial"/>
              </a:rPr>
              <a:t>exact solvers remain perfect and faster at 10×25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Next: </a:t>
            </a:r>
            <a:r>
              <a:rPr sz="2000" b="0">
                <a:solidFill>
                  <a:srgbClr val="2D2D2D"/>
                </a:solidFill>
                <a:latin typeface="Arial"/>
              </a:rPr>
              <a:t>feasibility-head redesign, on-the-fly instances, size-generalization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Aardal, K., Bixby, R. E., Hurkens, C. A. J., Lenstra, A. K., &amp; Smeltink, J. W. (2000). Market split and basis reduction: Towards a solution of the Cornuéjols–Dawande instances. INFORMS Journal on Computing, 12(3), 192–202.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Cornuéjols, G., &amp; Dawande, M. (1998). A class of hard small 0–1 programs. IPCO 1998, 284–293.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Gasse, M., Chételat, D., Ferroni, N., Charlin, L., &amp; Lodi, A. (2019). Exact combinatorial optimization with graph convolutional neural networks. NeurIPS 32.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Nair, V., et al. (2020). Solving mixed integer programs using neural networks. arXiv:2012.13349.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Selsam, D., et al. (2019). Learning a SAT solver from single-bit supervision. ICLR.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